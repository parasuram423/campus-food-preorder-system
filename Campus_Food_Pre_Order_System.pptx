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image" Target="../media/image-12-1.png"/><Relationship Id="rId7" Type="http://schemas.openxmlformats.org/officeDocument/2006/relationships/image" Target="../media/image-12-1.png"/><Relationship Id="rId8" Type="http://schemas.openxmlformats.org/officeDocument/2006/relationships/image" Target="../media/image-12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image" Target="../media/image-15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5029200" cy="5029200"/>
          </a:xfrm>
          <a:prstGeom prst="ellipse">
            <a:avLst/>
          </a:prstGeom>
          <a:solidFill>
            <a:srgbClr val="232C5C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023360"/>
            <a:ext cx="3840480" cy="3840480"/>
          </a:xfrm>
          <a:prstGeom prst="ellipse">
            <a:avLst/>
          </a:prstGeom>
          <a:solidFill>
            <a:srgbClr val="232C5C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85800"/>
            <a:ext cx="1051560" cy="10515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icons/utens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206" y="959206"/>
            <a:ext cx="504749" cy="5047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148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FOOD ORDERING &amp; MANAGEMENT SYSTEM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251460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Food</a:t>
            </a:r>
            <a:endParaRPr lang="en-US" sz="48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Pre-Order System</a:t>
            </a:r>
            <a:endParaRPr lang="en-US" sz="4800" dirty="0"/>
          </a:p>
        </p:txBody>
      </p:sp>
      <p:sp>
        <p:nvSpPr>
          <p:cNvPr id="8" name="Shape 5"/>
          <p:cNvSpPr/>
          <p:nvPr/>
        </p:nvSpPr>
        <p:spPr>
          <a:xfrm>
            <a:off x="713232" y="4526280"/>
            <a:ext cx="210312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4709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 •   JSP   •   Servlets   •   JDBC   •   MySQL   •   HTML   •   CSS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5440680"/>
            <a:ext cx="6949440" cy="1051560"/>
          </a:xfrm>
          <a:prstGeom prst="roundRect">
            <a:avLst>
              <a:gd name="adj" fmla="val 6957"/>
            </a:avLst>
          </a:prstGeom>
          <a:solidFill>
            <a:srgbClr val="232C5C"/>
          </a:solidFill>
          <a:ln w="12700">
            <a:solidFill>
              <a:srgbClr val="3B469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0120" y="5559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5852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1: __________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5852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2: 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7335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1527048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application built for the campus community.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38658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224028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students to order food from the campus canteen online.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099816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2953512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browse the available menu and place orders anytime.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813048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3666744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orders, payments, order status, and order history.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452628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4379976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waiting time and improves overall ordering efficiency.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35240" y="1554480"/>
            <a:ext cx="3977640" cy="4617720"/>
          </a:xfrm>
          <a:prstGeom prst="roundRect">
            <a:avLst>
              <a:gd name="adj" fmla="val 2299"/>
            </a:avLst>
          </a:prstGeom>
          <a:solidFill>
            <a:srgbClr val="2F3C7E"/>
          </a:solidFill>
          <a:ln/>
        </p:spPr>
      </p:sp>
      <p:sp>
        <p:nvSpPr>
          <p:cNvPr id="15" name="Shape 13"/>
          <p:cNvSpPr/>
          <p:nvPr/>
        </p:nvSpPr>
        <p:spPr>
          <a:xfrm>
            <a:off x="9162288" y="196596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0" descr="icons/utens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2203704"/>
            <a:ext cx="438912" cy="438912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90956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system?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3566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39684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 at canteen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44074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48097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payment records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7909560" y="524865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Anytime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5650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browsing &amp; ordering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FOOD PRE-ORDER SYSTEM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49240" cy="777240"/>
          </a:xfrm>
          <a:prstGeom prst="roundRect">
            <a:avLst>
              <a:gd name="adj" fmla="val 11765"/>
            </a:avLst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57400"/>
            <a:ext cx="5349240" cy="320040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7" name="Image 0" descr="icons/w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10512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7739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97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2697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to wait in long queues.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3558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33558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order processing takes more time.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0142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40142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order records manually is difficult.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6725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467258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may not know the current order status.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533095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53309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daily sales manually is time-consuming.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63640" y="160020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2F3C7E"/>
          </a:solidFill>
          <a:ln/>
        </p:spPr>
      </p:sp>
      <p:sp>
        <p:nvSpPr>
          <p:cNvPr id="20" name="Shape 17"/>
          <p:cNvSpPr/>
          <p:nvPr/>
        </p:nvSpPr>
        <p:spPr>
          <a:xfrm>
            <a:off x="6263640" y="2057400"/>
            <a:ext cx="5349240" cy="3200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21" name="Shape 18"/>
          <p:cNvSpPr/>
          <p:nvPr/>
        </p:nvSpPr>
        <p:spPr>
          <a:xfrm>
            <a:off x="6492240" y="1810512"/>
            <a:ext cx="384048" cy="384048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22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092" y="1910364"/>
            <a:ext cx="184343" cy="18434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995160" y="17739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6537960" y="26974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6812280" y="26974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 online food pre-ordering system.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6537960" y="34747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6812280" y="34747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students to place orders before reaching the canteen.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6537960" y="42519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6812280" y="425196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order and payment details digitally.</a:t>
            </a:r>
            <a:endParaRPr lang="en-US" sz="1250" dirty="0"/>
          </a:p>
        </p:txBody>
      </p:sp>
      <p:sp>
        <p:nvSpPr>
          <p:cNvPr id="30" name="Text 26"/>
          <p:cNvSpPr txBox="1"/>
          <p:nvPr/>
        </p:nvSpPr>
        <p:spPr>
          <a:xfrm>
            <a:off x="6537960" y="50292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6812280" y="50292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order history and sales reports.</a:t>
            </a:r>
            <a:endParaRPr lang="en-US" sz="1250" dirty="0"/>
          </a:p>
        </p:txBody>
      </p:sp>
      <p:sp>
        <p:nvSpPr>
          <p:cNvPr id="32" name="Text 2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FOOD PRE-ORDER SYSTEM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icons/sign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073" y="2095073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624328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Easy-to-use ordering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953512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simple campus food ordering system for every student.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45152" y="1947672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1" name="Image 1" descr="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553" y="209507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45152" y="2624328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waiting time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45152" y="2953512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down long queues and waiting time at the canteen.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85632" y="1947672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6" name="Image 2" descr="icons/l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033" y="209507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85632" y="2624328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menu browsing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485632" y="2953512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online menu browsing and food ordering options.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187952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1" name="Image 3" descr="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73" y="433535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4672" y="4864608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records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5193792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student, order, and payment information digitally.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39319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45152" y="4187952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6" name="Image 4" descr="icons/tru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2553" y="4335353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45152" y="4864608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tracking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645152" y="5193792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real-time order tracking and full order history.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29600" y="39319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85632" y="4187952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31" name="Image 5" descr="icons/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3033" y="4335353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85632" y="4864608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reporting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485632" y="5193792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daily sales reports for the canteen management.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FOOD PRE-ORDER SYSTEM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073" y="2095073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624328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97180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JSP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45152" y="1947672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1" name="Image 1" descr="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553" y="209507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45152" y="2624328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645152" y="297180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Servlets, JDBC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85632" y="1947672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2" descr="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033" y="209507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85632" y="2624328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485632" y="297180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187952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1" name="Image 3" descr="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73" y="433535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4672" y="4864608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521208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Tomcat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89120" y="39319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45152" y="4187952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6" name="Image 4" descr="icons/lay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2553" y="4335353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45152" y="4864608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Tool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645152" y="521208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229600" y="39319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85632" y="4187952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31" name="Image 5" descr="icons/gea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3033" y="4335353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85632" y="4864608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Environment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485632" y="521208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IDE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FOOD PRE-ORDER SYSTEM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232C5C"/>
          </a:solidFill>
          <a:ln w="12700">
            <a:solidFill>
              <a:srgbClr val="3B46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71016" y="1947672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s/sign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7437" y="2114093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2770632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Login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98064" y="1691640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232C5C"/>
          </a:solidFill>
          <a:ln w="12700">
            <a:solidFill>
              <a:srgbClr val="3B46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20440" y="1947672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icons/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861" y="2114093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07792" y="2770632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Display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47488" y="1691640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232C5C"/>
          </a:solidFill>
          <a:ln w="12700">
            <a:solidFill>
              <a:srgbClr val="3B469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769864" y="1947672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4" name="Image 2" descr="icons/c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285" y="2114093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57216" y="2770632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Selection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296912" y="1691640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232C5C"/>
          </a:solidFill>
          <a:ln w="12700">
            <a:solidFill>
              <a:srgbClr val="3B469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019288" y="1947672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8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709" y="2114093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406640" y="2770632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546336" y="1691640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232C5C"/>
          </a:solidFill>
          <a:ln w="12700">
            <a:solidFill>
              <a:srgbClr val="3B469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0268712" y="1947672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2" name="Image 4" descr="icons/lay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5133" y="2114093"/>
            <a:ext cx="307238" cy="30723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656064" y="2770632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548640" y="4069080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232C5C"/>
          </a:solidFill>
          <a:ln w="12700">
            <a:solidFill>
              <a:srgbClr val="3B469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1271016" y="4325112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6" name="Image 5" descr="icons/c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7437" y="4491533"/>
            <a:ext cx="307238" cy="30723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58368" y="5148072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2798064" y="4069080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232C5C"/>
          </a:solidFill>
          <a:ln w="12700">
            <a:solidFill>
              <a:srgbClr val="3B4690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3520440" y="4325112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0" name="Image 6" descr="icons/tru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6861" y="4491533"/>
            <a:ext cx="307238" cy="307238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2907792" y="5148072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5047488" y="4069080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232C5C"/>
          </a:solidFill>
          <a:ln w="12700">
            <a:solidFill>
              <a:srgbClr val="3B4690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5769864" y="4325112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4" name="Image 7" descr="icons/histo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6285" y="4491533"/>
            <a:ext cx="307238" cy="307238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5157216" y="5148072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7296912" y="4069080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232C5C"/>
          </a:solidFill>
          <a:ln w="12700">
            <a:solidFill>
              <a:srgbClr val="3B4690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8019288" y="4325112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8" name="Image 8" descr="icons/char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5709" y="4491533"/>
            <a:ext cx="307238" cy="307238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7406640" y="5148072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 Report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9546336" y="4069080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232C5C"/>
          </a:solidFill>
          <a:ln w="12700">
            <a:solidFill>
              <a:srgbClr val="3B4690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10268712" y="4325112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2" name="Image 9" descr="icons/databas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35133" y="4491533"/>
            <a:ext cx="307238" cy="307238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9656064" y="5148072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200" dirty="0"/>
          </a:p>
        </p:txBody>
      </p:sp>
      <p:sp>
        <p:nvSpPr>
          <p:cNvPr id="44" name="Text 32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FOOD PRE-ORDER SYSTEM</a:t>
            </a:r>
            <a:endParaRPr lang="en-US" sz="900" dirty="0"/>
          </a:p>
        </p:txBody>
      </p:sp>
      <p:sp>
        <p:nvSpPr>
          <p:cNvPr id="45" name="Text 3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0" y="1572768"/>
            <a:ext cx="6949440" cy="603504"/>
          </a:xfrm>
          <a:prstGeom prst="roundRect">
            <a:avLst>
              <a:gd name="adj" fmla="val 12121"/>
            </a:avLst>
          </a:prstGeom>
          <a:solidFill>
            <a:srgbClr val="2F3C7E"/>
          </a:solidFill>
          <a:ln/>
        </p:spPr>
      </p:sp>
      <p:sp>
        <p:nvSpPr>
          <p:cNvPr id="5" name="Shape 3"/>
          <p:cNvSpPr/>
          <p:nvPr/>
        </p:nvSpPr>
        <p:spPr>
          <a:xfrm>
            <a:off x="2871216" y="1655064"/>
            <a:ext cx="438912" cy="438912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5333" y="1769181"/>
            <a:ext cx="210678" cy="21067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429000" y="16276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162763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accesses the application through a browser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 rot="10800000">
            <a:off x="6135624" y="2180844"/>
            <a:ext cx="164592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0" y="2299716"/>
            <a:ext cx="6949440" cy="603504"/>
          </a:xfrm>
          <a:prstGeom prst="roundRect">
            <a:avLst>
              <a:gd name="adj" fmla="val 12121"/>
            </a:avLst>
          </a:prstGeom>
          <a:solidFill>
            <a:srgbClr val="F96167"/>
          </a:solidFill>
          <a:ln/>
        </p:spPr>
      </p:sp>
      <p:sp>
        <p:nvSpPr>
          <p:cNvPr id="11" name="Shape 8"/>
          <p:cNvSpPr/>
          <p:nvPr/>
        </p:nvSpPr>
        <p:spPr>
          <a:xfrm>
            <a:off x="2871216" y="2382012"/>
            <a:ext cx="438912" cy="43891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2" name="Image 1" descr="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333" y="2496129"/>
            <a:ext cx="210678" cy="21067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29000" y="23545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JSP / HTML / CSS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5852160" y="23545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renders pages for the user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 rot="10800000">
            <a:off x="6135624" y="2907792"/>
            <a:ext cx="164592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6" name="Shape 12"/>
          <p:cNvSpPr/>
          <p:nvPr/>
        </p:nvSpPr>
        <p:spPr>
          <a:xfrm>
            <a:off x="2743200" y="3026664"/>
            <a:ext cx="6949440" cy="603504"/>
          </a:xfrm>
          <a:prstGeom prst="roundRect">
            <a:avLst>
              <a:gd name="adj" fmla="val 12121"/>
            </a:avLst>
          </a:prstGeom>
          <a:solidFill>
            <a:srgbClr val="2F3C7E"/>
          </a:solidFill>
          <a:ln/>
        </p:spPr>
      </p:sp>
      <p:sp>
        <p:nvSpPr>
          <p:cNvPr id="17" name="Shape 13"/>
          <p:cNvSpPr/>
          <p:nvPr/>
        </p:nvSpPr>
        <p:spPr>
          <a:xfrm>
            <a:off x="2871216" y="3108960"/>
            <a:ext cx="438912" cy="438912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8" name="Image 2" descr="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333" y="3223077"/>
            <a:ext cx="210678" cy="21067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429000" y="3081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Servlets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5852160" y="308152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requests and business logic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 rot="10800000">
            <a:off x="6135624" y="3634740"/>
            <a:ext cx="164592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22" name="Shape 17"/>
          <p:cNvSpPr/>
          <p:nvPr/>
        </p:nvSpPr>
        <p:spPr>
          <a:xfrm>
            <a:off x="2743200" y="3753612"/>
            <a:ext cx="6949440" cy="603504"/>
          </a:xfrm>
          <a:prstGeom prst="roundRect">
            <a:avLst>
              <a:gd name="adj" fmla="val 12121"/>
            </a:avLst>
          </a:prstGeom>
          <a:solidFill>
            <a:srgbClr val="F96167"/>
          </a:solidFill>
          <a:ln/>
        </p:spPr>
      </p:sp>
      <p:sp>
        <p:nvSpPr>
          <p:cNvPr id="23" name="Shape 18"/>
          <p:cNvSpPr/>
          <p:nvPr/>
        </p:nvSpPr>
        <p:spPr>
          <a:xfrm>
            <a:off x="2871216" y="3835908"/>
            <a:ext cx="438912" cy="43891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4" name="Image 3" descr="icons/lay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5333" y="3950025"/>
            <a:ext cx="210678" cy="21067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429000" y="380847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DAO Layer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5852160" y="380847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objects mediate database operations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 rot="10800000">
            <a:off x="6135624" y="4361688"/>
            <a:ext cx="164592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28" name="Shape 22"/>
          <p:cNvSpPr/>
          <p:nvPr/>
        </p:nvSpPr>
        <p:spPr>
          <a:xfrm>
            <a:off x="2743200" y="4480560"/>
            <a:ext cx="6949440" cy="603504"/>
          </a:xfrm>
          <a:prstGeom prst="roundRect">
            <a:avLst>
              <a:gd name="adj" fmla="val 12121"/>
            </a:avLst>
          </a:prstGeom>
          <a:solidFill>
            <a:srgbClr val="2F3C7E"/>
          </a:solidFill>
          <a:ln/>
        </p:spPr>
      </p:sp>
      <p:sp>
        <p:nvSpPr>
          <p:cNvPr id="29" name="Shape 23"/>
          <p:cNvSpPr/>
          <p:nvPr/>
        </p:nvSpPr>
        <p:spPr>
          <a:xfrm>
            <a:off x="2871216" y="4562856"/>
            <a:ext cx="438912" cy="438912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0" name="Image 4" descr="icons/cog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5333" y="4676973"/>
            <a:ext cx="210678" cy="21067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3429000" y="45354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</a:t>
            </a:r>
            <a:endParaRPr lang="en-US" sz="1350" dirty="0"/>
          </a:p>
        </p:txBody>
      </p:sp>
      <p:sp>
        <p:nvSpPr>
          <p:cNvPr id="32" name="Text 25"/>
          <p:cNvSpPr txBox="1"/>
          <p:nvPr/>
        </p:nvSpPr>
        <p:spPr>
          <a:xfrm>
            <a:off x="5852160" y="453542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the application to the database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 rot="10800000">
            <a:off x="6135624" y="5088636"/>
            <a:ext cx="164592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34" name="Shape 27"/>
          <p:cNvSpPr/>
          <p:nvPr/>
        </p:nvSpPr>
        <p:spPr>
          <a:xfrm>
            <a:off x="2743200" y="5207508"/>
            <a:ext cx="6949440" cy="603504"/>
          </a:xfrm>
          <a:prstGeom prst="roundRect">
            <a:avLst>
              <a:gd name="adj" fmla="val 12121"/>
            </a:avLst>
          </a:prstGeom>
          <a:solidFill>
            <a:srgbClr val="F96167"/>
          </a:solidFill>
          <a:ln/>
        </p:spPr>
      </p:sp>
      <p:sp>
        <p:nvSpPr>
          <p:cNvPr id="35" name="Shape 28"/>
          <p:cNvSpPr/>
          <p:nvPr/>
        </p:nvSpPr>
        <p:spPr>
          <a:xfrm>
            <a:off x="2871216" y="5289804"/>
            <a:ext cx="438912" cy="43891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36" name="Image 5" descr="icons/datab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5333" y="5403921"/>
            <a:ext cx="210678" cy="210678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3429000" y="52623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Database</a:t>
            </a:r>
            <a:endParaRPr lang="en-US" sz="1350" dirty="0"/>
          </a:p>
        </p:txBody>
      </p:sp>
      <p:sp>
        <p:nvSpPr>
          <p:cNvPr id="38" name="Text 30"/>
          <p:cNvSpPr txBox="1"/>
          <p:nvPr/>
        </p:nvSpPr>
        <p:spPr>
          <a:xfrm>
            <a:off x="5852160" y="526237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students, menu, orders and payments</a:t>
            </a:r>
            <a:endParaRPr lang="en-US" sz="1050" dirty="0"/>
          </a:p>
        </p:txBody>
      </p:sp>
      <p:sp>
        <p:nvSpPr>
          <p:cNvPr id="39" name="Text 31"/>
          <p:cNvSpPr txBox="1"/>
          <p:nvPr/>
        </p:nvSpPr>
        <p:spPr>
          <a:xfrm>
            <a:off x="548640" y="598017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follows a layered approach: the frontend communicates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Servlets, and the backend accesses the MySQL database using JDBC.</a:t>
            </a:r>
            <a:endParaRPr lang="en-US" sz="1100" dirty="0"/>
          </a:p>
        </p:txBody>
      </p:sp>
      <p:sp>
        <p:nvSpPr>
          <p:cNvPr id="40" name="Text 32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FOOD PRE-ORDER SYSTEM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TABLES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57984" cy="226771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2157984" cy="502920"/>
          </a:xfrm>
          <a:prstGeom prst="roundRect">
            <a:avLst>
              <a:gd name="adj" fmla="val 14545"/>
            </a:avLst>
          </a:prstGeom>
          <a:solidFill>
            <a:srgbClr val="2F3C7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57400"/>
            <a:ext cx="2157984" cy="1371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69164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6656" y="2377440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304288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676656" y="2761488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268833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676656" y="3145536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3072384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676656" y="3529584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" y="345643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2852928" y="1691640"/>
            <a:ext cx="2157984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52928" y="1691640"/>
            <a:ext cx="2157984" cy="502920"/>
          </a:xfrm>
          <a:prstGeom prst="roundRect">
            <a:avLst>
              <a:gd name="adj" fmla="val 14545"/>
            </a:avLst>
          </a:prstGeom>
          <a:solidFill>
            <a:srgbClr val="2F3C7E"/>
          </a:solidFill>
          <a:ln/>
        </p:spPr>
      </p:sp>
      <p:sp>
        <p:nvSpPr>
          <p:cNvPr id="18" name="Shape 16"/>
          <p:cNvSpPr/>
          <p:nvPr/>
        </p:nvSpPr>
        <p:spPr>
          <a:xfrm>
            <a:off x="2852928" y="2057400"/>
            <a:ext cx="2157984" cy="1371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944368" y="169164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980944" y="2377440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108960" y="2304288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ID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2980944" y="2761488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108960" y="268833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Name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2980944" y="3145536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108960" y="3072384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5157216" y="1691640"/>
            <a:ext cx="2157984" cy="226771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57216" y="1691640"/>
            <a:ext cx="2157984" cy="502920"/>
          </a:xfrm>
          <a:prstGeom prst="roundRect">
            <a:avLst>
              <a:gd name="adj" fmla="val 14545"/>
            </a:avLst>
          </a:prstGeom>
          <a:solidFill>
            <a:srgbClr val="2F3C7E"/>
          </a:solidFill>
          <a:ln/>
        </p:spPr>
      </p:sp>
      <p:sp>
        <p:nvSpPr>
          <p:cNvPr id="28" name="Shape 26"/>
          <p:cNvSpPr/>
          <p:nvPr/>
        </p:nvSpPr>
        <p:spPr>
          <a:xfrm>
            <a:off x="5157216" y="2057400"/>
            <a:ext cx="2157984" cy="1371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248656" y="169164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285232" y="2377440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13248" y="2304288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5285232" y="2761488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13248" y="268833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5285232" y="3145536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413248" y="3072384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5285232" y="3529584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413248" y="345643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7461504" y="1691640"/>
            <a:ext cx="2157984" cy="226771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61504" y="1691640"/>
            <a:ext cx="2157984" cy="502920"/>
          </a:xfrm>
          <a:prstGeom prst="roundRect">
            <a:avLst>
              <a:gd name="adj" fmla="val 14545"/>
            </a:avLst>
          </a:prstGeom>
          <a:solidFill>
            <a:srgbClr val="2F3C7E"/>
          </a:solidFill>
          <a:ln/>
        </p:spPr>
      </p:sp>
      <p:sp>
        <p:nvSpPr>
          <p:cNvPr id="40" name="Shape 38"/>
          <p:cNvSpPr/>
          <p:nvPr/>
        </p:nvSpPr>
        <p:spPr>
          <a:xfrm>
            <a:off x="7461504" y="2057400"/>
            <a:ext cx="2157984" cy="1371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552944" y="169164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OrderItem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589520" y="2377440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717536" y="2304288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 ID</a:t>
            </a:r>
            <a:endParaRPr lang="en-US" sz="970" dirty="0"/>
          </a:p>
        </p:txBody>
      </p:sp>
      <p:sp>
        <p:nvSpPr>
          <p:cNvPr id="44" name="Shape 42"/>
          <p:cNvSpPr/>
          <p:nvPr/>
        </p:nvSpPr>
        <p:spPr>
          <a:xfrm>
            <a:off x="7589520" y="2761488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717536" y="268833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</a:t>
            </a:r>
            <a:endParaRPr lang="en-US" sz="970" dirty="0"/>
          </a:p>
        </p:txBody>
      </p:sp>
      <p:sp>
        <p:nvSpPr>
          <p:cNvPr id="46" name="Shape 44"/>
          <p:cNvSpPr/>
          <p:nvPr/>
        </p:nvSpPr>
        <p:spPr>
          <a:xfrm>
            <a:off x="7589520" y="3145536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717536" y="3072384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ID</a:t>
            </a:r>
            <a:endParaRPr lang="en-US" sz="970" dirty="0"/>
          </a:p>
        </p:txBody>
      </p:sp>
      <p:sp>
        <p:nvSpPr>
          <p:cNvPr id="48" name="Shape 46"/>
          <p:cNvSpPr/>
          <p:nvPr/>
        </p:nvSpPr>
        <p:spPr>
          <a:xfrm>
            <a:off x="7589520" y="3529584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717536" y="345643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970" dirty="0"/>
          </a:p>
        </p:txBody>
      </p:sp>
      <p:sp>
        <p:nvSpPr>
          <p:cNvPr id="50" name="Shape 48"/>
          <p:cNvSpPr/>
          <p:nvPr/>
        </p:nvSpPr>
        <p:spPr>
          <a:xfrm>
            <a:off x="9765792" y="1691640"/>
            <a:ext cx="2157984" cy="26517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765792" y="1691640"/>
            <a:ext cx="2157984" cy="502920"/>
          </a:xfrm>
          <a:prstGeom prst="roundRect">
            <a:avLst>
              <a:gd name="adj" fmla="val 14545"/>
            </a:avLst>
          </a:prstGeom>
          <a:solidFill>
            <a:srgbClr val="2F3C7E"/>
          </a:solidFill>
          <a:ln/>
        </p:spPr>
      </p:sp>
      <p:sp>
        <p:nvSpPr>
          <p:cNvPr id="52" name="Shape 50"/>
          <p:cNvSpPr/>
          <p:nvPr/>
        </p:nvSpPr>
        <p:spPr>
          <a:xfrm>
            <a:off x="9765792" y="2057400"/>
            <a:ext cx="2157984" cy="1371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9857232" y="169164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893808" y="2377440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10021824" y="2304288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ID</a:t>
            </a:r>
            <a:endParaRPr lang="en-US" sz="970" dirty="0"/>
          </a:p>
        </p:txBody>
      </p:sp>
      <p:sp>
        <p:nvSpPr>
          <p:cNvPr id="56" name="Shape 54"/>
          <p:cNvSpPr/>
          <p:nvPr/>
        </p:nvSpPr>
        <p:spPr>
          <a:xfrm>
            <a:off x="9893808" y="2761488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10021824" y="268833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</a:t>
            </a:r>
            <a:endParaRPr lang="en-US" sz="970" dirty="0"/>
          </a:p>
        </p:txBody>
      </p:sp>
      <p:sp>
        <p:nvSpPr>
          <p:cNvPr id="58" name="Shape 56"/>
          <p:cNvSpPr/>
          <p:nvPr/>
        </p:nvSpPr>
        <p:spPr>
          <a:xfrm>
            <a:off x="9893808" y="3145536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10021824" y="3072384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970" dirty="0"/>
          </a:p>
        </p:txBody>
      </p:sp>
      <p:sp>
        <p:nvSpPr>
          <p:cNvPr id="60" name="Shape 58"/>
          <p:cNvSpPr/>
          <p:nvPr/>
        </p:nvSpPr>
        <p:spPr>
          <a:xfrm>
            <a:off x="9893808" y="3529584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0021824" y="345643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970" dirty="0"/>
          </a:p>
        </p:txBody>
      </p:sp>
      <p:sp>
        <p:nvSpPr>
          <p:cNvPr id="62" name="Shape 60"/>
          <p:cNvSpPr/>
          <p:nvPr/>
        </p:nvSpPr>
        <p:spPr>
          <a:xfrm>
            <a:off x="9893808" y="3913632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10021824" y="384048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</a:t>
            </a:r>
            <a:endParaRPr lang="en-US" sz="970" dirty="0"/>
          </a:p>
        </p:txBody>
      </p:sp>
      <p:sp>
        <p:nvSpPr>
          <p:cNvPr id="64" name="Text 62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FOOD PRE-ORDER SYSTEM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MODULES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82880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s/sign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723" y="1952427"/>
            <a:ext cx="228234" cy="22823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53312" y="1828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Login Module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68096" y="2523744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950976" y="2523744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enters login credentials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68096" y="2852928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950976" y="2852928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validates the user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89120" y="1627632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08576" y="182880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4" name="Image 1" descr="icons/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203" y="1952427"/>
            <a:ext cx="228234" cy="22823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193792" y="1828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Menu Module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608576" y="2523744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791456" y="2523744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available food items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4608576" y="2852928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4791456" y="2852928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food names and prices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8229600" y="1627632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449056" y="182880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2" name="Image 2" descr="icons/c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683" y="1952427"/>
            <a:ext cx="228234" cy="22823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034272" y="1828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Order Module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8449056" y="2523744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8631936" y="2523744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selects food items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8449056" y="2852928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8631936" y="2852928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total order amount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8449056" y="3182112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50" dirty="0"/>
          </a:p>
        </p:txBody>
      </p:sp>
      <p:sp>
        <p:nvSpPr>
          <p:cNvPr id="29" name="Text 24"/>
          <p:cNvSpPr txBox="1"/>
          <p:nvPr/>
        </p:nvSpPr>
        <p:spPr>
          <a:xfrm>
            <a:off x="8631936" y="3182112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order details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548640" y="397764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68096" y="417880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2" name="Image 3" descr="icons/c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23" y="4302435"/>
            <a:ext cx="228234" cy="22823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353312" y="41788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Payment Module</a:t>
            </a:r>
            <a:endParaRPr lang="en-US" sz="1250" dirty="0"/>
          </a:p>
        </p:txBody>
      </p:sp>
      <p:sp>
        <p:nvSpPr>
          <p:cNvPr id="34" name="Text 28"/>
          <p:cNvSpPr txBox="1"/>
          <p:nvPr/>
        </p:nvSpPr>
        <p:spPr>
          <a:xfrm>
            <a:off x="768096" y="4873752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50" dirty="0"/>
          </a:p>
        </p:txBody>
      </p:sp>
      <p:sp>
        <p:nvSpPr>
          <p:cNvPr id="35" name="Text 29"/>
          <p:cNvSpPr txBox="1"/>
          <p:nvPr/>
        </p:nvSpPr>
        <p:spPr>
          <a:xfrm>
            <a:off x="950976" y="4873752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payment method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768096" y="5202936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50" dirty="0"/>
          </a:p>
        </p:txBody>
      </p:sp>
      <p:sp>
        <p:nvSpPr>
          <p:cNvPr id="37" name="Text 31"/>
          <p:cNvSpPr txBox="1"/>
          <p:nvPr/>
        </p:nvSpPr>
        <p:spPr>
          <a:xfrm>
            <a:off x="950976" y="520293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payment details and status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4389120" y="397764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608576" y="417880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0" name="Image 4" descr="icons/tru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203" y="4302435"/>
            <a:ext cx="228234" cy="228234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5193792" y="41788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Order Tracking Module</a:t>
            </a:r>
            <a:endParaRPr lang="en-US" sz="1250" dirty="0"/>
          </a:p>
        </p:txBody>
      </p:sp>
      <p:sp>
        <p:nvSpPr>
          <p:cNvPr id="42" name="Text 35"/>
          <p:cNvSpPr txBox="1"/>
          <p:nvPr/>
        </p:nvSpPr>
        <p:spPr>
          <a:xfrm>
            <a:off x="4608576" y="4873752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50" dirty="0"/>
          </a:p>
        </p:txBody>
      </p:sp>
      <p:sp>
        <p:nvSpPr>
          <p:cNvPr id="43" name="Text 36"/>
          <p:cNvSpPr txBox="1"/>
          <p:nvPr/>
        </p:nvSpPr>
        <p:spPr>
          <a:xfrm>
            <a:off x="4791456" y="4873752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current status of the order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8229600" y="397764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8449056" y="417880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6" name="Image 5" descr="icons/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683" y="4302435"/>
            <a:ext cx="228234" cy="228234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9034272" y="41788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Sales Report Module</a:t>
            </a:r>
            <a:endParaRPr lang="en-US" sz="1250" dirty="0"/>
          </a:p>
        </p:txBody>
      </p:sp>
      <p:sp>
        <p:nvSpPr>
          <p:cNvPr id="48" name="Text 40"/>
          <p:cNvSpPr txBox="1"/>
          <p:nvPr/>
        </p:nvSpPr>
        <p:spPr>
          <a:xfrm>
            <a:off x="8449056" y="4873752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50" dirty="0"/>
          </a:p>
        </p:txBody>
      </p:sp>
      <p:sp>
        <p:nvSpPr>
          <p:cNvPr id="49" name="Text 41"/>
          <p:cNvSpPr txBox="1"/>
          <p:nvPr/>
        </p:nvSpPr>
        <p:spPr>
          <a:xfrm>
            <a:off x="8631936" y="4873752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total orders and total sales</a:t>
            </a:r>
            <a:endParaRPr lang="en-US" sz="1000" dirty="0"/>
          </a:p>
        </p:txBody>
      </p:sp>
      <p:sp>
        <p:nvSpPr>
          <p:cNvPr id="50" name="Text 42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FOOD PRE-ORDER SYSTEM</a:t>
            </a:r>
            <a:endParaRPr lang="en-US" sz="900" dirty="0"/>
          </a:p>
        </p:txBody>
      </p:sp>
      <p:sp>
        <p:nvSpPr>
          <p:cNvPr id="51" name="Text 4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JOURNEY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20116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18488" y="1527048"/>
            <a:ext cx="329184" cy="329184"/>
          </a:xfrm>
          <a:prstGeom prst="ellipse">
            <a:avLst/>
          </a:prstGeom>
          <a:solidFill>
            <a:srgbClr val="2F3C7E"/>
          </a:solidFill>
          <a:ln w="25400">
            <a:solidFill>
              <a:srgbClr val="F7F7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18488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31620" y="194767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8" name="Image 0" descr="icons/sign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2379" y="2078431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2798064" y="21945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08376" y="1691640"/>
            <a:ext cx="20116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49624" y="1527048"/>
            <a:ext cx="329184" cy="329184"/>
          </a:xfrm>
          <a:prstGeom prst="ellipse">
            <a:avLst/>
          </a:prstGeom>
          <a:solidFill>
            <a:srgbClr val="2F3C7E"/>
          </a:solidFill>
          <a:ln w="25400">
            <a:solidFill>
              <a:srgbClr val="F7F7F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49624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762756" y="194767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5" name="Image 1" descr="icons/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515" y="2078431"/>
            <a:ext cx="241402" cy="24140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099816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Menu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5029200" y="21945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239512" y="1691640"/>
            <a:ext cx="20116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80760" y="1527048"/>
            <a:ext cx="329184" cy="329184"/>
          </a:xfrm>
          <a:prstGeom prst="ellipse">
            <a:avLst/>
          </a:prstGeom>
          <a:solidFill>
            <a:srgbClr val="2F3C7E"/>
          </a:solidFill>
          <a:ln w="25400">
            <a:solidFill>
              <a:srgbClr val="F7F7FB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080760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993892" y="194767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2" name="Image 2" descr="icons/c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651" y="2078431"/>
            <a:ext cx="241402" cy="24140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330952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Items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7260336" y="21945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7470648" y="1691640"/>
            <a:ext cx="20116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311896" y="1527048"/>
            <a:ext cx="329184" cy="329184"/>
          </a:xfrm>
          <a:prstGeom prst="ellipse">
            <a:avLst/>
          </a:prstGeom>
          <a:solidFill>
            <a:srgbClr val="2F3C7E"/>
          </a:solidFill>
          <a:ln w="25400">
            <a:solidFill>
              <a:srgbClr val="F7F7FB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311896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8225028" y="194767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9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787" y="2078431"/>
            <a:ext cx="241402" cy="241402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562088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9491472" y="21945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9701784" y="1691640"/>
            <a:ext cx="20116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10543032" y="1527048"/>
            <a:ext cx="329184" cy="329184"/>
          </a:xfrm>
          <a:prstGeom prst="ellipse">
            <a:avLst/>
          </a:prstGeom>
          <a:solidFill>
            <a:srgbClr val="2F3C7E"/>
          </a:solidFill>
          <a:ln w="25400">
            <a:solidFill>
              <a:srgbClr val="F7F7FB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10543032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10456164" y="194767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6" name="Image 4" descr="icons/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6923" y="2078431"/>
            <a:ext cx="241402" cy="241402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9793224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Total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1892808" y="3794760"/>
            <a:ext cx="20116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2734056" y="3630168"/>
            <a:ext cx="329184" cy="329184"/>
          </a:xfrm>
          <a:prstGeom prst="ellipse">
            <a:avLst/>
          </a:prstGeom>
          <a:solidFill>
            <a:srgbClr val="2F3C7E"/>
          </a:solidFill>
          <a:ln w="25400">
            <a:solidFill>
              <a:srgbClr val="F7F7FB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2734056" y="3630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2647188" y="405079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2" name="Image 5" descr="icons/c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7947" y="4181551"/>
            <a:ext cx="241402" cy="241402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1984248" y="4709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Payment</a:t>
            </a:r>
            <a:endParaRPr lang="en-US" sz="1100" dirty="0"/>
          </a:p>
        </p:txBody>
      </p:sp>
      <p:sp>
        <p:nvSpPr>
          <p:cNvPr id="44" name="Text 36"/>
          <p:cNvSpPr txBox="1"/>
          <p:nvPr/>
        </p:nvSpPr>
        <p:spPr>
          <a:xfrm>
            <a:off x="3913632" y="42976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37"/>
          <p:cNvSpPr/>
          <p:nvPr/>
        </p:nvSpPr>
        <p:spPr>
          <a:xfrm>
            <a:off x="4123944" y="3794760"/>
            <a:ext cx="20116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4965192" y="3630168"/>
            <a:ext cx="329184" cy="329184"/>
          </a:xfrm>
          <a:prstGeom prst="ellipse">
            <a:avLst/>
          </a:prstGeom>
          <a:solidFill>
            <a:srgbClr val="2F3C7E"/>
          </a:solidFill>
          <a:ln w="25400">
            <a:solidFill>
              <a:srgbClr val="F7F7FB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4965192" y="3630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48" name="Shape 40"/>
          <p:cNvSpPr/>
          <p:nvPr/>
        </p:nvSpPr>
        <p:spPr>
          <a:xfrm>
            <a:off x="4878324" y="405079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9" name="Image 6" descr="icons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9083" y="4181551"/>
            <a:ext cx="241402" cy="241402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4215384" y="4709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Confirmation</a:t>
            </a:r>
            <a:endParaRPr lang="en-US" sz="1100" dirty="0"/>
          </a:p>
        </p:txBody>
      </p:sp>
      <p:sp>
        <p:nvSpPr>
          <p:cNvPr id="51" name="Text 42"/>
          <p:cNvSpPr txBox="1"/>
          <p:nvPr/>
        </p:nvSpPr>
        <p:spPr>
          <a:xfrm>
            <a:off x="6144768" y="42976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2" name="Shape 43"/>
          <p:cNvSpPr/>
          <p:nvPr/>
        </p:nvSpPr>
        <p:spPr>
          <a:xfrm>
            <a:off x="6355080" y="3794760"/>
            <a:ext cx="20116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7196328" y="3630168"/>
            <a:ext cx="329184" cy="329184"/>
          </a:xfrm>
          <a:prstGeom prst="ellipse">
            <a:avLst/>
          </a:prstGeom>
          <a:solidFill>
            <a:srgbClr val="2F3C7E"/>
          </a:solidFill>
          <a:ln w="25400">
            <a:solidFill>
              <a:srgbClr val="F7F7FB"/>
            </a:solidFill>
            <a:prstDash val="solid"/>
          </a:ln>
        </p:spPr>
      </p:sp>
      <p:sp>
        <p:nvSpPr>
          <p:cNvPr id="54" name="Text 45"/>
          <p:cNvSpPr txBox="1"/>
          <p:nvPr/>
        </p:nvSpPr>
        <p:spPr>
          <a:xfrm>
            <a:off x="7196328" y="3630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55" name="Shape 46"/>
          <p:cNvSpPr/>
          <p:nvPr/>
        </p:nvSpPr>
        <p:spPr>
          <a:xfrm>
            <a:off x="7109460" y="405079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6" name="Image 7" descr="icons/tru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0219" y="4181551"/>
            <a:ext cx="241402" cy="241402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6446520" y="4709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Status</a:t>
            </a:r>
            <a:endParaRPr lang="en-US" sz="1100" dirty="0"/>
          </a:p>
        </p:txBody>
      </p:sp>
      <p:sp>
        <p:nvSpPr>
          <p:cNvPr id="58" name="Text 48"/>
          <p:cNvSpPr txBox="1"/>
          <p:nvPr/>
        </p:nvSpPr>
        <p:spPr>
          <a:xfrm>
            <a:off x="8375904" y="42976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9" name="Shape 49"/>
          <p:cNvSpPr/>
          <p:nvPr/>
        </p:nvSpPr>
        <p:spPr>
          <a:xfrm>
            <a:off x="8586216" y="3794760"/>
            <a:ext cx="20116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60" name="Shape 50"/>
          <p:cNvSpPr/>
          <p:nvPr/>
        </p:nvSpPr>
        <p:spPr>
          <a:xfrm>
            <a:off x="9427464" y="3630168"/>
            <a:ext cx="329184" cy="329184"/>
          </a:xfrm>
          <a:prstGeom prst="ellipse">
            <a:avLst/>
          </a:prstGeom>
          <a:solidFill>
            <a:srgbClr val="2F3C7E"/>
          </a:solidFill>
          <a:ln w="25400">
            <a:solidFill>
              <a:srgbClr val="F7F7FB"/>
            </a:solidFill>
            <a:prstDash val="solid"/>
          </a:ln>
        </p:spPr>
      </p:sp>
      <p:sp>
        <p:nvSpPr>
          <p:cNvPr id="61" name="Text 51"/>
          <p:cNvSpPr txBox="1"/>
          <p:nvPr/>
        </p:nvSpPr>
        <p:spPr>
          <a:xfrm>
            <a:off x="9427464" y="3630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62" name="Shape 52"/>
          <p:cNvSpPr/>
          <p:nvPr/>
        </p:nvSpPr>
        <p:spPr>
          <a:xfrm>
            <a:off x="9340596" y="405079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3" name="Image 8" descr="icons/hist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1355" y="4181551"/>
            <a:ext cx="241402" cy="241402"/>
          </a:xfrm>
          <a:prstGeom prst="rect">
            <a:avLst/>
          </a:prstGeom>
        </p:spPr>
      </p:pic>
      <p:sp>
        <p:nvSpPr>
          <p:cNvPr id="64" name="Text 53"/>
          <p:cNvSpPr txBox="1"/>
          <p:nvPr/>
        </p:nvSpPr>
        <p:spPr>
          <a:xfrm>
            <a:off x="8677656" y="4709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History</a:t>
            </a:r>
            <a:endParaRPr lang="en-US" sz="1100" dirty="0"/>
          </a:p>
        </p:txBody>
      </p:sp>
      <p:sp>
        <p:nvSpPr>
          <p:cNvPr id="65" name="Text 5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FOOD PRE-ORDER SYSTEM</a:t>
            </a:r>
            <a:endParaRPr lang="en-US" sz="900" dirty="0"/>
          </a:p>
        </p:txBody>
      </p:sp>
      <p:sp>
        <p:nvSpPr>
          <p:cNvPr id="66" name="Text 5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DETAIL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856232"/>
            <a:ext cx="402336" cy="40233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94944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916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logs into the system.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2752344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4944" y="2752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8775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views the available food items.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" y="3648456"/>
            <a:ext cx="402336" cy="40233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4944" y="3648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48386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selects required food items and quantities.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" y="4544568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4944" y="4544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379976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calculates the total amount.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1691640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9944" y="1856232"/>
            <a:ext cx="402336" cy="40233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9944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16916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details are stored in the database.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2587752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9944" y="2752344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9944" y="2752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258775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selects a payment method.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63640" y="3483864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9944" y="3648456"/>
            <a:ext cx="402336" cy="40233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9944" y="3648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348386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 is recorded.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63640" y="4379976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9944" y="4544568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09944" y="4544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949440" y="4379976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can view the order status and history.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FOOD PRE-ORDER SYSTEM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Screens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875">
            <a:solidFill>
              <a:srgbClr val="E3E5F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2103120" cy="1188720"/>
          </a:xfrm>
          <a:prstGeom prst="roundRect">
            <a:avLst>
              <a:gd name="adj" fmla="val 3846"/>
            </a:avLst>
          </a:prstGeom>
          <a:solidFill>
            <a:srgbClr val="F7F7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2194560"/>
            <a:ext cx="512064" cy="512064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7" name="Image 0" descr="icons/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3337" y="2327697"/>
            <a:ext cx="245791" cy="24579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04672" y="2724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here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20040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46704" y="169164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875">
            <a:solidFill>
              <a:srgbClr val="E3E5F0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3602736" y="1947672"/>
            <a:ext cx="2103120" cy="1188720"/>
          </a:xfrm>
          <a:prstGeom prst="roundRect">
            <a:avLst>
              <a:gd name="adj" fmla="val 3846"/>
            </a:avLst>
          </a:prstGeom>
          <a:solidFill>
            <a:srgbClr val="F7F7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98264" y="2194560"/>
            <a:ext cx="512064" cy="512064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3" name="Image 1" descr="icons/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401" y="2327697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02736" y="2724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here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3483864" y="320040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Page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44768" y="169164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875">
            <a:solidFill>
              <a:srgbClr val="E3E5F0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6400800" y="1947672"/>
            <a:ext cx="2103120" cy="1188720"/>
          </a:xfrm>
          <a:prstGeom prst="roundRect">
            <a:avLst>
              <a:gd name="adj" fmla="val 3846"/>
            </a:avLst>
          </a:prstGeom>
          <a:solidFill>
            <a:srgbClr val="F7F7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96328" y="2194560"/>
            <a:ext cx="512064" cy="512064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9" name="Image 2" descr="icons/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465" y="2327697"/>
            <a:ext cx="245791" cy="24579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00800" y="2724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here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6281928" y="320040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 Page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942832" y="169164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875">
            <a:solidFill>
              <a:srgbClr val="E3E5F0"/>
            </a:solidFill>
            <a:prstDash val="dash"/>
          </a:ln>
        </p:spPr>
      </p:sp>
      <p:sp>
        <p:nvSpPr>
          <p:cNvPr id="23" name="Shape 18"/>
          <p:cNvSpPr/>
          <p:nvPr/>
        </p:nvSpPr>
        <p:spPr>
          <a:xfrm>
            <a:off x="9198864" y="1947672"/>
            <a:ext cx="2103120" cy="1188720"/>
          </a:xfrm>
          <a:prstGeom prst="roundRect">
            <a:avLst>
              <a:gd name="adj" fmla="val 3846"/>
            </a:avLst>
          </a:prstGeom>
          <a:solidFill>
            <a:srgbClr val="F7F7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994392" y="2194560"/>
            <a:ext cx="512064" cy="512064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5" name="Image 3" descr="icons/mob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7529" y="2327697"/>
            <a:ext cx="245791" cy="245791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198864" y="2724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here</a:t>
            </a:r>
            <a:endParaRPr lang="en-US" sz="850" dirty="0"/>
          </a:p>
        </p:txBody>
      </p:sp>
      <p:sp>
        <p:nvSpPr>
          <p:cNvPr id="27" name="Text 21"/>
          <p:cNvSpPr txBox="1"/>
          <p:nvPr/>
        </p:nvSpPr>
        <p:spPr>
          <a:xfrm>
            <a:off x="9079992" y="320040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Page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48640" y="388620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875">
            <a:solidFill>
              <a:srgbClr val="E3E5F0"/>
            </a:solidFill>
            <a:prstDash val="dash"/>
          </a:ln>
        </p:spPr>
      </p:sp>
      <p:sp>
        <p:nvSpPr>
          <p:cNvPr id="29" name="Shape 23"/>
          <p:cNvSpPr/>
          <p:nvPr/>
        </p:nvSpPr>
        <p:spPr>
          <a:xfrm>
            <a:off x="804672" y="4142232"/>
            <a:ext cx="2103120" cy="1188720"/>
          </a:xfrm>
          <a:prstGeom prst="roundRect">
            <a:avLst>
              <a:gd name="adj" fmla="val 3846"/>
            </a:avLst>
          </a:prstGeom>
          <a:solidFill>
            <a:srgbClr val="F7F7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1600200" y="4389120"/>
            <a:ext cx="512064" cy="512064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31" name="Image 4" descr="icons/mobi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3337" y="4522257"/>
            <a:ext cx="245791" cy="245791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04672" y="4919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here</a:t>
            </a:r>
            <a:endParaRPr lang="en-US" sz="850" dirty="0"/>
          </a:p>
        </p:txBody>
      </p:sp>
      <p:sp>
        <p:nvSpPr>
          <p:cNvPr id="33" name="Text 26"/>
          <p:cNvSpPr txBox="1"/>
          <p:nvPr/>
        </p:nvSpPr>
        <p:spPr>
          <a:xfrm>
            <a:off x="685800" y="539496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Successful Page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3346704" y="388620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875">
            <a:solidFill>
              <a:srgbClr val="E3E5F0"/>
            </a:solidFill>
            <a:prstDash val="dash"/>
          </a:ln>
        </p:spPr>
      </p:sp>
      <p:sp>
        <p:nvSpPr>
          <p:cNvPr id="35" name="Shape 28"/>
          <p:cNvSpPr/>
          <p:nvPr/>
        </p:nvSpPr>
        <p:spPr>
          <a:xfrm>
            <a:off x="3602736" y="4142232"/>
            <a:ext cx="2103120" cy="1188720"/>
          </a:xfrm>
          <a:prstGeom prst="roundRect">
            <a:avLst>
              <a:gd name="adj" fmla="val 3846"/>
            </a:avLst>
          </a:prstGeom>
          <a:solidFill>
            <a:srgbClr val="F7F7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398264" y="4389120"/>
            <a:ext cx="512064" cy="512064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37" name="Image 5" descr="icons/mobi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1401" y="4522257"/>
            <a:ext cx="245791" cy="245791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3602736" y="4919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here</a:t>
            </a:r>
            <a:endParaRPr lang="en-US" sz="850" dirty="0"/>
          </a:p>
        </p:txBody>
      </p:sp>
      <p:sp>
        <p:nvSpPr>
          <p:cNvPr id="39" name="Text 31"/>
          <p:cNvSpPr txBox="1"/>
          <p:nvPr/>
        </p:nvSpPr>
        <p:spPr>
          <a:xfrm>
            <a:off x="3483864" y="539496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Page</a:t>
            </a:r>
            <a:endParaRPr lang="en-US" sz="1150" dirty="0"/>
          </a:p>
        </p:txBody>
      </p:sp>
      <p:sp>
        <p:nvSpPr>
          <p:cNvPr id="40" name="Shape 32"/>
          <p:cNvSpPr/>
          <p:nvPr/>
        </p:nvSpPr>
        <p:spPr>
          <a:xfrm>
            <a:off x="6144768" y="388620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875">
            <a:solidFill>
              <a:srgbClr val="E3E5F0"/>
            </a:solidFill>
            <a:prstDash val="dash"/>
          </a:ln>
        </p:spPr>
      </p:sp>
      <p:sp>
        <p:nvSpPr>
          <p:cNvPr id="41" name="Shape 33"/>
          <p:cNvSpPr/>
          <p:nvPr/>
        </p:nvSpPr>
        <p:spPr>
          <a:xfrm>
            <a:off x="6400800" y="4142232"/>
            <a:ext cx="2103120" cy="1188720"/>
          </a:xfrm>
          <a:prstGeom prst="roundRect">
            <a:avLst>
              <a:gd name="adj" fmla="val 3846"/>
            </a:avLst>
          </a:prstGeom>
          <a:solidFill>
            <a:srgbClr val="F7F7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7196328" y="4389120"/>
            <a:ext cx="512064" cy="512064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43" name="Image 6" descr="icons/mobi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9465" y="4522257"/>
            <a:ext cx="245791" cy="245791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6400800" y="4919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here</a:t>
            </a:r>
            <a:endParaRPr lang="en-US" sz="850" dirty="0"/>
          </a:p>
        </p:txBody>
      </p:sp>
      <p:sp>
        <p:nvSpPr>
          <p:cNvPr id="45" name="Text 36"/>
          <p:cNvSpPr txBox="1"/>
          <p:nvPr/>
        </p:nvSpPr>
        <p:spPr>
          <a:xfrm>
            <a:off x="6281928" y="539496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 Page</a:t>
            </a:r>
            <a:endParaRPr lang="en-US" sz="1150" dirty="0"/>
          </a:p>
        </p:txBody>
      </p:sp>
      <p:sp>
        <p:nvSpPr>
          <p:cNvPr id="46" name="Shape 37"/>
          <p:cNvSpPr/>
          <p:nvPr/>
        </p:nvSpPr>
        <p:spPr>
          <a:xfrm>
            <a:off x="8942832" y="388620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875">
            <a:solidFill>
              <a:srgbClr val="E3E5F0"/>
            </a:solidFill>
            <a:prstDash val="dash"/>
          </a:ln>
        </p:spPr>
      </p:sp>
      <p:sp>
        <p:nvSpPr>
          <p:cNvPr id="47" name="Shape 38"/>
          <p:cNvSpPr/>
          <p:nvPr/>
        </p:nvSpPr>
        <p:spPr>
          <a:xfrm>
            <a:off x="9198864" y="4142232"/>
            <a:ext cx="2103120" cy="1188720"/>
          </a:xfrm>
          <a:prstGeom prst="roundRect">
            <a:avLst>
              <a:gd name="adj" fmla="val 3846"/>
            </a:avLst>
          </a:prstGeom>
          <a:solidFill>
            <a:srgbClr val="F7F7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9994392" y="4389120"/>
            <a:ext cx="512064" cy="512064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49" name="Image 7" descr="icons/mobi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7529" y="4522257"/>
            <a:ext cx="245791" cy="245791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9198864" y="4919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here</a:t>
            </a:r>
            <a:endParaRPr lang="en-US" sz="850" dirty="0"/>
          </a:p>
        </p:txBody>
      </p:sp>
      <p:sp>
        <p:nvSpPr>
          <p:cNvPr id="51" name="Text 41"/>
          <p:cNvSpPr txBox="1"/>
          <p:nvPr/>
        </p:nvSpPr>
        <p:spPr>
          <a:xfrm>
            <a:off x="9079992" y="539496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 Report</a:t>
            </a:r>
            <a:endParaRPr lang="en-US" sz="1150" dirty="0"/>
          </a:p>
        </p:txBody>
      </p:sp>
      <p:sp>
        <p:nvSpPr>
          <p:cNvPr id="52" name="Text 42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FOOD PRE-ORDER SYSTEM</a:t>
            </a:r>
            <a:endParaRPr lang="en-US" sz="900" dirty="0"/>
          </a:p>
        </p:txBody>
      </p:sp>
      <p:sp>
        <p:nvSpPr>
          <p:cNvPr id="53" name="Text 4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2F3C7E"/>
          </a:solidFill>
          <a:ln/>
        </p:spPr>
      </p:sp>
      <p:sp>
        <p:nvSpPr>
          <p:cNvPr id="5" name="Shape 3"/>
          <p:cNvSpPr/>
          <p:nvPr/>
        </p:nvSpPr>
        <p:spPr>
          <a:xfrm>
            <a:off x="1545336" y="1984248"/>
            <a:ext cx="621792" cy="621792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7002" y="2145914"/>
            <a:ext cx="298460" cy="298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waiting time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46704" y="169164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2F3C7E"/>
          </a:solidFill>
          <a:ln/>
        </p:spPr>
      </p:sp>
      <p:sp>
        <p:nvSpPr>
          <p:cNvPr id="9" name="Shape 6"/>
          <p:cNvSpPr/>
          <p:nvPr/>
        </p:nvSpPr>
        <p:spPr>
          <a:xfrm>
            <a:off x="4343400" y="1984248"/>
            <a:ext cx="621792" cy="621792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icons/c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066" y="2145914"/>
            <a:ext cx="298460" cy="298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11296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food ordering process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44768" y="169164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2F3C7E"/>
          </a:solidFill>
          <a:ln/>
        </p:spPr>
      </p:sp>
      <p:sp>
        <p:nvSpPr>
          <p:cNvPr id="13" name="Shape 9"/>
          <p:cNvSpPr/>
          <p:nvPr/>
        </p:nvSpPr>
        <p:spPr>
          <a:xfrm>
            <a:off x="7141464" y="1984248"/>
            <a:ext cx="621792" cy="621792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4" name="Image 2" descr="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130" y="2145914"/>
            <a:ext cx="298460" cy="2984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09360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record management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942832" y="169164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2F3C7E"/>
          </a:solidFill>
          <a:ln/>
        </p:spPr>
      </p:sp>
      <p:sp>
        <p:nvSpPr>
          <p:cNvPr id="17" name="Shape 12"/>
          <p:cNvSpPr/>
          <p:nvPr/>
        </p:nvSpPr>
        <p:spPr>
          <a:xfrm>
            <a:off x="9939528" y="1984248"/>
            <a:ext cx="621792" cy="621792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8" name="Image 3" descr="icons/tru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1194" y="2145914"/>
            <a:ext cx="298460" cy="2984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07424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order tracking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388620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F96167"/>
          </a:solidFill>
          <a:ln/>
        </p:spPr>
      </p:sp>
      <p:sp>
        <p:nvSpPr>
          <p:cNvPr id="21" name="Shape 15"/>
          <p:cNvSpPr/>
          <p:nvPr/>
        </p:nvSpPr>
        <p:spPr>
          <a:xfrm>
            <a:off x="1545336" y="4178808"/>
            <a:ext cx="621792" cy="62179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2" name="Image 4" descr="icons/cog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7002" y="4340474"/>
            <a:ext cx="298460" cy="2984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3232" y="4937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work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3346704" y="388620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F96167"/>
          </a:solidFill>
          <a:ln/>
        </p:spPr>
      </p:sp>
      <p:sp>
        <p:nvSpPr>
          <p:cNvPr id="25" name="Shape 18"/>
          <p:cNvSpPr/>
          <p:nvPr/>
        </p:nvSpPr>
        <p:spPr>
          <a:xfrm>
            <a:off x="4343400" y="4178808"/>
            <a:ext cx="621792" cy="62179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6" name="Image 5" descr="icons/c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5066" y="4340474"/>
            <a:ext cx="298460" cy="29846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511296" y="4937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order &amp; payment records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144768" y="388620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F96167"/>
          </a:solidFill>
          <a:ln/>
        </p:spPr>
      </p:sp>
      <p:sp>
        <p:nvSpPr>
          <p:cNvPr id="29" name="Shape 21"/>
          <p:cNvSpPr/>
          <p:nvPr/>
        </p:nvSpPr>
        <p:spPr>
          <a:xfrm>
            <a:off x="7141464" y="4178808"/>
            <a:ext cx="621792" cy="62179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30" name="Image 6" descr="icons/cha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3130" y="4340474"/>
            <a:ext cx="298460" cy="29846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309360" y="4937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monitor daily sales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8942832" y="388620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F96167"/>
          </a:solidFill>
          <a:ln/>
        </p:spPr>
      </p:sp>
      <p:sp>
        <p:nvSpPr>
          <p:cNvPr id="33" name="Shape 24"/>
          <p:cNvSpPr/>
          <p:nvPr/>
        </p:nvSpPr>
        <p:spPr>
          <a:xfrm>
            <a:off x="9939528" y="4178808"/>
            <a:ext cx="621792" cy="62179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34" name="Image 7" descr="icons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1194" y="4340474"/>
            <a:ext cx="298460" cy="29846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9107424" y="4937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interface</a:t>
            </a:r>
            <a:endParaRPr lang="en-US" sz="1200" dirty="0"/>
          </a:p>
        </p:txBody>
      </p:sp>
      <p:sp>
        <p:nvSpPr>
          <p:cNvPr id="36" name="Text 2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FOOD PRE-ORDER SYSTEM</a:t>
            </a:r>
            <a:endParaRPr lang="en-US" sz="900" dirty="0"/>
          </a:p>
        </p:txBody>
      </p:sp>
      <p:sp>
        <p:nvSpPr>
          <p:cNvPr id="37" name="Text 2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56232"/>
            <a:ext cx="530352" cy="53035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icons/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124" y="1994124"/>
            <a:ext cx="254569" cy="2545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89888" y="169164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gateway integration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69164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82512" y="1856232"/>
            <a:ext cx="530352" cy="53035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0" name="Image 1" descr="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404" y="1994124"/>
            <a:ext cx="254569" cy="25456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59168" y="169164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274320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13232" y="2907792"/>
            <a:ext cx="530352" cy="53035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4" name="Image 2" descr="icons/b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4" y="3045684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89888" y="27432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order notifications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17920" y="274320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382512" y="2907792"/>
            <a:ext cx="530352" cy="53035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8" name="Image 3" descr="icons/mob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404" y="3045684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59168" y="27432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SMS notifications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379476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13232" y="3959352"/>
            <a:ext cx="530352" cy="53035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2" name="Image 4" descr="icons/li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124" y="4097244"/>
            <a:ext cx="254569" cy="254569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89888" y="379476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availability management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217920" y="379476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382512" y="3959352"/>
            <a:ext cx="530352" cy="53035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6" name="Image 5" descr="icons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0404" y="4097244"/>
            <a:ext cx="254569" cy="254569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059168" y="379476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feedback and ratings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548640" y="484632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13232" y="5010912"/>
            <a:ext cx="530352" cy="53035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30" name="Image 6" descr="icons/rock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124" y="5148804"/>
            <a:ext cx="254569" cy="254569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389888" y="484632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6217920" y="484632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6382512" y="5010912"/>
            <a:ext cx="530352" cy="53035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34" name="Image 7" descr="icons/us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0404" y="5148804"/>
            <a:ext cx="254569" cy="254569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059168" y="484632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authentication</a:t>
            </a:r>
            <a:endParaRPr lang="en-US" sz="1300" dirty="0"/>
          </a:p>
        </p:txBody>
      </p:sp>
      <p:sp>
        <p:nvSpPr>
          <p:cNvPr id="36" name="Text 2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FOOD PRE-ORDER SYSTEM</a:t>
            </a:r>
            <a:endParaRPr lang="en-US" sz="900" dirty="0"/>
          </a:p>
        </p:txBody>
      </p:sp>
      <p:sp>
        <p:nvSpPr>
          <p:cNvPr id="37" name="Text 2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206240" cy="4206240"/>
          </a:xfrm>
          <a:prstGeom prst="ellipse">
            <a:avLst/>
          </a:prstGeom>
          <a:solidFill>
            <a:srgbClr val="232C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247" y="2024847"/>
            <a:ext cx="193121" cy="1931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90195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simple and efficient solution for campus food ordering.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706624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9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7" y="2811231"/>
            <a:ext cx="193121" cy="19312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268833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waiting time and manual work for students and staff.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3493008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7" y="3597615"/>
            <a:ext cx="193121" cy="19312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34747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menu, orders, payments, and order history in one place.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48640" y="4279392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5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47" y="4383999"/>
            <a:ext cx="193121" cy="193121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43000" y="426110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Java, JSP, Servlets, JDBC, and MySQL.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548640" y="5065776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8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247" y="5170383"/>
            <a:ext cx="193121" cy="193121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43000" y="504748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further enhanced with online payments, notifications, and a mobile app.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FOOD PRE-ORDER SYSTEM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029200" cy="5029200"/>
          </a:xfrm>
          <a:prstGeom prst="ellipse">
            <a:avLst/>
          </a:prstGeom>
          <a:solidFill>
            <a:srgbClr val="232C5C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011680"/>
            <a:ext cx="5029200" cy="5029200"/>
          </a:xfrm>
          <a:prstGeom prst="ellipse">
            <a:avLst/>
          </a:prstGeom>
          <a:solidFill>
            <a:srgbClr val="232C5C"/>
          </a:solidFill>
          <a:ln/>
        </p:spPr>
      </p:sp>
      <p:sp>
        <p:nvSpPr>
          <p:cNvPr id="4" name="Shape 2"/>
          <p:cNvSpPr/>
          <p:nvPr/>
        </p:nvSpPr>
        <p:spPr>
          <a:xfrm>
            <a:off x="5545836" y="1005840"/>
            <a:ext cx="1097280" cy="10972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icons/utens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1129" y="1291133"/>
            <a:ext cx="526694" cy="52669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233172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0" y="31546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985516" y="4114800"/>
            <a:ext cx="6217920" cy="1051560"/>
          </a:xfrm>
          <a:prstGeom prst="roundRect">
            <a:avLst>
              <a:gd name="adj" fmla="val 6957"/>
            </a:avLst>
          </a:prstGeom>
          <a:solidFill>
            <a:srgbClr val="232C5C"/>
          </a:solidFill>
          <a:ln w="12700">
            <a:solidFill>
              <a:srgbClr val="3B469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59836" y="4233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3259836" y="45537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1: __________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185916" y="45537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2: __________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2026-09-09T05:24:16Z</dcterms:created>
  <dcterms:modified xsi:type="dcterms:W3CDTF">2026-09-09T05:24:16Z</dcterms:modified>
</cp:coreProperties>
</file>